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9" r:id="rId3"/>
    <p:sldId id="257" r:id="rId4"/>
    <p:sldId id="258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2" r:id="rId14"/>
    <p:sldId id="261" r:id="rId15"/>
    <p:sldId id="270" r:id="rId16"/>
    <p:sldId id="280" r:id="rId17"/>
    <p:sldId id="283" r:id="rId18"/>
    <p:sldId id="281" r:id="rId19"/>
    <p:sldId id="260" r:id="rId20"/>
    <p:sldId id="262" r:id="rId21"/>
    <p:sldId id="284" r:id="rId22"/>
    <p:sldId id="286" r:id="rId23"/>
    <p:sldId id="285" r:id="rId24"/>
    <p:sldId id="288" r:id="rId25"/>
    <p:sldId id="287" r:id="rId26"/>
    <p:sldId id="263" r:id="rId27"/>
    <p:sldId id="290" r:id="rId28"/>
    <p:sldId id="264" r:id="rId29"/>
    <p:sldId id="265" r:id="rId30"/>
    <p:sldId id="271" r:id="rId31"/>
    <p:sldId id="269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pPr>
              <a:defRPr sz="1200" b="1">
                <a:solidFill>
                  <a:srgbClr val="000000"/>
                </a:solidFill>
                <a:latin typeface="Calibri"/>
              </a:defRPr>
            </a:pPr>
            <a:r>
              <a:rPr lang="en-US" sz="1200" b="1"/>
              <a:t>scbench_kv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Speculator</c:v>
                </c:pt>
              </c:strCache>
            </c:strRef>
          </c:tx>
          <c:spPr>
            <a:solidFill>
              <a:srgbClr val="D97706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0</c:v>
                </c:pt>
                <c:pt idx="1">
                  <c:v>1.631</c:v>
                </c:pt>
                <c:pt idx="2">
                  <c:v>1.637</c:v>
                </c:pt>
                <c:pt idx="3">
                  <c:v>1.6419999999999999</c:v>
                </c:pt>
                <c:pt idx="4">
                  <c:v>1.6459999999999999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A-49A4-A4F9-0298ACA88A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prefill</c:v>
                </c:pt>
              </c:strCache>
            </c:strRef>
          </c:tx>
          <c:spPr>
            <a:solidFill>
              <a:srgbClr val="1E3A5F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4.9429999999999996</c:v>
                </c:pt>
                <c:pt idx="1">
                  <c:v>3.7090000000000001</c:v>
                </c:pt>
                <c:pt idx="2">
                  <c:v>3.024</c:v>
                </c:pt>
                <c:pt idx="3">
                  <c:v>2.31</c:v>
                </c:pt>
                <c:pt idx="4">
                  <c:v>1.5649999999999999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FA-49A4-A4F9-0298ACA88A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decode</c:v>
                </c:pt>
              </c:strCache>
            </c:strRef>
          </c:tx>
          <c:spPr>
            <a:solidFill>
              <a:srgbClr val="4A90C2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2.0419999999999998</c:v>
                </c:pt>
                <c:pt idx="1">
                  <c:v>1.7789999999999999</c:v>
                </c:pt>
                <c:pt idx="2">
                  <c:v>1.466</c:v>
                </c:pt>
                <c:pt idx="3">
                  <c:v>1.137</c:v>
                </c:pt>
                <c:pt idx="4">
                  <c:v>0.78300000000000003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FA-49A4-A4F9-0298ACA88A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pPr>
              <a:defRPr sz="1200" b="1">
                <a:solidFill>
                  <a:srgbClr val="000000"/>
                </a:solidFill>
                <a:latin typeface="Calibri"/>
              </a:defRPr>
            </a:pPr>
            <a:r>
              <a:rPr lang="en-US" sz="1200" b="1"/>
              <a:t>scbench_qa_eng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Speculator</c:v>
                </c:pt>
              </c:strCache>
            </c:strRef>
          </c:tx>
          <c:spPr>
            <a:solidFill>
              <a:srgbClr val="D97706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0</c:v>
                </c:pt>
                <c:pt idx="1">
                  <c:v>0.90200000000000002</c:v>
                </c:pt>
                <c:pt idx="2">
                  <c:v>0.90400000000000003</c:v>
                </c:pt>
                <c:pt idx="3">
                  <c:v>0.878</c:v>
                </c:pt>
                <c:pt idx="4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62-4F58-A3C5-9ECBAD2AEF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prefill</c:v>
                </c:pt>
              </c:strCache>
            </c:strRef>
          </c:tx>
          <c:spPr>
            <a:solidFill>
              <a:srgbClr val="1E3A5F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2.468</c:v>
                </c:pt>
                <c:pt idx="1">
                  <c:v>1.7110000000000001</c:v>
                </c:pt>
                <c:pt idx="2">
                  <c:v>1.413</c:v>
                </c:pt>
                <c:pt idx="3">
                  <c:v>1.1020000000000001</c:v>
                </c:pt>
                <c:pt idx="4">
                  <c:v>0.77800000000000002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62-4F58-A3C5-9ECBAD2AEF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decode</c:v>
                </c:pt>
              </c:strCache>
            </c:strRef>
          </c:tx>
          <c:spPr>
            <a:solidFill>
              <a:srgbClr val="4A90C2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1.6950000000000001</c:v>
                </c:pt>
                <c:pt idx="1">
                  <c:v>1.399</c:v>
                </c:pt>
                <c:pt idx="2">
                  <c:v>1.1459999999999999</c:v>
                </c:pt>
                <c:pt idx="3">
                  <c:v>0.86299999999999999</c:v>
                </c:pt>
                <c:pt idx="4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62-4F58-A3C5-9ECBAD2AE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pPr>
              <a:defRPr sz="1200" b="1">
                <a:solidFill>
                  <a:srgbClr val="000000"/>
                </a:solidFill>
                <a:latin typeface="Calibri"/>
              </a:defRPr>
            </a:pPr>
            <a:r>
              <a:rPr lang="en-US" sz="1200" b="1"/>
              <a:t>scbench_summary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Speculator</c:v>
                </c:pt>
              </c:strCache>
            </c:strRef>
          </c:tx>
          <c:spPr>
            <a:solidFill>
              <a:srgbClr val="D97706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0</c:v>
                </c:pt>
                <c:pt idx="1">
                  <c:v>1.7929999999999999</c:v>
                </c:pt>
                <c:pt idx="2">
                  <c:v>1.7829999999999999</c:v>
                </c:pt>
                <c:pt idx="3">
                  <c:v>1.7709999999999999</c:v>
                </c:pt>
                <c:pt idx="4">
                  <c:v>1.756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73-436D-B4E4-956197068C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prefill</c:v>
                </c:pt>
              </c:strCache>
            </c:strRef>
          </c:tx>
          <c:spPr>
            <a:solidFill>
              <a:srgbClr val="1E3A5F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4.0709999999999997</c:v>
                </c:pt>
                <c:pt idx="1">
                  <c:v>3.0539999999999998</c:v>
                </c:pt>
                <c:pt idx="2">
                  <c:v>2.5089999999999999</c:v>
                </c:pt>
                <c:pt idx="3">
                  <c:v>1.9419999999999999</c:v>
                </c:pt>
                <c:pt idx="4">
                  <c:v>1.3540000000000001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73-436D-B4E4-956197068C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decode</c:v>
                </c:pt>
              </c:strCache>
            </c:strRef>
          </c:tx>
          <c:spPr>
            <a:solidFill>
              <a:srgbClr val="4A90C2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M000</c:v>
                </c:pt>
                <c:pt idx="1">
                  <c:v>k80</c:v>
                </c:pt>
                <c:pt idx="2">
                  <c:v>k60</c:v>
                </c:pt>
                <c:pt idx="3">
                  <c:v>k40</c:v>
                </c:pt>
                <c:pt idx="4">
                  <c:v>k20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3.8460000000000001</c:v>
                </c:pt>
                <c:pt idx="1">
                  <c:v>3.32</c:v>
                </c:pt>
                <c:pt idx="2">
                  <c:v>2.71</c:v>
                </c:pt>
                <c:pt idx="3">
                  <c:v>2.085</c:v>
                </c:pt>
                <c:pt idx="4">
                  <c:v>1.4410000000000001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73-436D-B4E4-956197068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7E7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0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733BC-5FEE-F668-5DB3-B11D6E7FC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12656-B275-9B40-B345-A367EDA0A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51FE7-08FC-21AE-01A1-12D1719DE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D20E7-7238-C46D-B610-6204D196A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71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74C5-0DA5-CD99-1063-6F13B3FA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06357-9FF0-2CA3-1FCF-FC50F7A5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2F890-7AB5-5459-7F56-8A33A1F00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B036F-432E-12FF-20CE-901B4394F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55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7F8E-D73E-52CF-DE1C-E68E3947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D8F38-B7F4-FC86-46A9-1ADA6DD05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4E93F-D0B9-C618-0AF6-926272FC1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3E77F-D793-0A6A-5E08-3A630C638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37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/>
              <a:t>Efficient Agentic Inference via Lightweight KV Cache Indexing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8AA17-C9A6-98B1-CA23-6E5984A1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3BE22A-95EA-080D-EF2F-F40315171364}"/>
              </a:ext>
            </a:extLst>
          </p:cNvPr>
          <p:cNvSpPr/>
          <p:nvPr/>
        </p:nvSpPr>
        <p:spPr>
          <a:xfrm>
            <a:off x="548639" y="83778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4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96F0A5-3D31-87D8-3D4D-76A1F8361330}"/>
              </a:ext>
            </a:extLst>
          </p:cNvPr>
          <p:cNvSpPr/>
          <p:nvPr/>
        </p:nvSpPr>
        <p:spPr>
          <a:xfrm>
            <a:off x="2574171" y="2127834"/>
            <a:ext cx="704335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1000"/>
              </a:spcAft>
              <a:buSzPct val="100000"/>
            </a:pPr>
            <a:r>
              <a:rPr lang="en-US" sz="3200" dirty="0"/>
              <a:t>Use a lightweight indexer/speculator model to dynamically identify the most relevant KV blocks from the growing conversation history, and only attend to those KV blocks during multi-turn agentic inference</a:t>
            </a:r>
          </a:p>
        </p:txBody>
      </p:sp>
    </p:spTree>
    <p:extLst>
      <p:ext uri="{BB962C8B-B14F-4D97-AF65-F5344CB8AC3E}">
        <p14:creationId xmlns:p14="http://schemas.microsoft.com/office/powerpoint/2010/main" val="29054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 works on single prompts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agents, chat assistants, etc. are multi-turn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speculative prefill cannot work in a multi-turn situation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can token preselection keep serving cheap turn after turn, without losing accuracy and retaining speedup?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SpecPrefill (arXiv:2502.02789, ICML 2025)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(arXiv:2412.10319)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KV-cache-centric benchmark design, multi-turn benchmark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sparse-KV / long-context methods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H2O, StreamingLLM, Quest, KVzip, </a:t>
            </a:r>
            <a:r>
              <a:rPr lang="en-US" sz="1600" i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HeadKV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retain most of their quality given only a carefully chosen subset of prompt tokens — and adapt to this zero-shot, no fine-tuning needed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 cheap “speculator” model predicts which tokens matter; only those tokens, plus their original position info, go to the expensive base model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— implemented as a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monkey-patch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FLOPs roughly proportional to the percentage of tokens dropped — shrinks both attention and the MLP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target prefill phase and decode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34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Full Prompt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(L tokens)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1149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410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Speculator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(small model)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scores every token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325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586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Keep top-k%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restore original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positions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1501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0762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Base Model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(large)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prefill only k·L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speculator decodes N look-ahead steps, storing its queries; attention scores against those queries decide which prompt tokens survive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survivors — with their original position ids restored — are handed to the base model's forward pass</a:t>
            </a:r>
            <a:endParaRPr lang="en-US" sz="1600" dirty="0"/>
          </a:p>
        </p:txBody>
      </p:sp>
      <p:pic>
        <p:nvPicPr>
          <p:cNvPr id="4" name="Picture 3" descr="algo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928" y="2514600"/>
            <a:ext cx="3229837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Algorithm 1, Liu, Chen &amp; Zhang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“Look-Ahead”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last-token attention is biased: the “sink” phenomenon (first tokens overweighted) and proximity bias (tokens near the output overweighted)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decode the speculator N extra steps and use the new tokens' attention instead of just the prompt's last token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trades bias reduction against budget — the paper found going beyond 16 look-ahead steps gives minimal extra gain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own pipeline uses look-ahead = 8, matching the paper's evaluation</a:t>
            </a: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49527" y="3794760"/>
          <a:ext cx="9692638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5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Task (avg. length)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Keep Rate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w/o Look-Ahead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w/ Look-Ahead (N=8)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LCC (3.2K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+8.2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LCC (3.2K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69.6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70.9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+1.3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RepoBench-P (10.8K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RepoBench-P (10.8K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71.6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QMSum (13.9K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MultiNews (2.6K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VCSUM-zh (11.0K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~0.0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49527" y="61722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595959"/>
                </a:solidFill>
                <a:latin typeface="Calibri"/>
              </a:rPr>
              <a:t>Source: Figure 2, Liu, Chen &amp; Zhang (2025) — Llama-3.1-405B-Instruct-FP8, SpecPrefill Full vs. Full LAH; values read from chart (±0.2)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Attention into Token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tensor shape [N, L, S, H] — look-ahead steps × layers × sequence × heads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over (layer, head): lets salient tokens stand out instead of being averaged away by uninformative heads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N (look-ahead steps): fair contribution across the look-ahead window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 small subset (2-4) “retrieval heads” may provide a small accuracy improvement on some questions, needs to be investigated further – based on Wu, Wang, Xiao, Peng &amp; Fu (2024), “Retrieval Head Mechanistically Explains Long-Context Factuality,” arXiv:2404.15574 (ICLR 2025)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100"/>
              </a:lnSpc>
              <a:spcAft>
                <a:spcPts val="1000"/>
              </a:spcAft>
              <a:buSzPct val="100000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100"/>
              </a:lnSpc>
              <a:spcAft>
                <a:spcPts val="1000"/>
              </a:spcAft>
              <a:buSzPct val="100000"/>
            </a:pP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0666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Attention Scores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[N, L, S, H]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55567" y="5257800"/>
            <a:ext cx="822960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98367" y="4562855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max over (layer, head)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[N, S]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(per look-ahead step,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per token)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13167" y="5257800"/>
            <a:ext cx="822960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5967" y="4562855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mean over N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18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Token Importance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[S]  (one score/token)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Selection &amp; Pooling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positioned near each other share similar importance (locality)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context, average the token score within each chunk, select the top-K chunks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1D average pooling before chunking, to smooth out chunk-boundary artifacts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4069079" y="260604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Token-level importance scores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34455" y="3163824"/>
            <a:ext cx="201168" cy="256032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314553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Calibri"/>
              </a:rPr>
              <a:t>1D average pool, then chunk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34747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Pooled, chunked scores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34455" y="4032504"/>
            <a:ext cx="201168" cy="256032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014215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Calibri"/>
              </a:rPr>
              <a:t>select top-K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0079" y="4434840"/>
            <a:ext cx="12344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 1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9111" y="4434840"/>
            <a:ext cx="1234440" cy="685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chunk 2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8143" y="4434840"/>
            <a:ext cx="12344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 3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7175" y="4434840"/>
            <a:ext cx="1234440" cy="685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chunk 4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DROP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Restoring Position IDs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tokens are non-contiguous — the base model needs their ORIGINAL positions, not a renumbered sequence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below (10 prompt tokens, 3 decoding tokens)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Decoding-token positions are explicitly offset to the original context length, even if tokens were dropped before them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 be crucially essential for position-sensitive tasks — retrieval, counting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2770632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Original prompt positions (kept = solid, dropped = dashed)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1671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1479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287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1095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903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0711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0519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0327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0135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9943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76472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Sent to the base model (original ids preserved + decode tokens appended)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1671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1479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1095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0519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50327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99751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49559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99367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TTFT Speedup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7.66x TTFT reduction on the 405B model at 10% keep rate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grows with batch size × sequence length, and grows further as base model size increases — the speculator's relative overhead shrinks</a:t>
            </a:r>
            <a:endParaRPr lang="en-US" sz="1600" dirty="0"/>
          </a:p>
        </p:txBody>
      </p:sp>
      <p:pic>
        <p:nvPicPr>
          <p:cNvPr id="4" name="Picture 3" descr="fig3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64" y="2514600"/>
            <a:ext cx="6239565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Figure 3, Liu, Chen &amp; Zhang (2025)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Quality vs. Efficiency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preserved down to 10% keep rate for Single/Multi-Doc QA and Few-Shot Learning; graceful degradation for Summarization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empirical query categories: information-dense (compresses poorly), compressible (no quality loss), and noisy (quality can IMPROVE after pruning distracting tokens)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RAG-Llama, LLMLingua, and MInference baselines at comparable compression rates on LongBench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RULER long-context performance up to 64K tokens at 10% keep; degrades specifically on aggregation tasks, where every word matters for word-frequency reasoning</a:t>
            </a:r>
            <a:endParaRPr lang="en-US" sz="1600" dirty="0"/>
          </a:p>
        </p:txBody>
      </p:sp>
      <p:pic>
        <p:nvPicPr>
          <p:cNvPr id="4" name="Picture 3" descr="fig2_toprow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77" y="3794760"/>
            <a:ext cx="6461397" cy="226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17336"/>
            <a:ext cx="11091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>
                <a:solidFill>
                  <a:srgbClr val="595959"/>
                </a:solidFill>
                <a:latin typeface="Calibri"/>
              </a:rPr>
              <a:t>Figure 2 (top row), Liu, Chen &amp; Zhang (2025) — Llama-3.1-405B-Instruct-FP8, keep rate 10%–90%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Baseline: LongBench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SpecPrefill's average score (52.7–53.9 across all keep rates) sits within ~1 point of the unpruned baseline (53.55) — and slightly exceeds it at 30–70% keep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RAG-Llama and LLMLingua need much higher compression to approach SpecPrefill's average, and still fall short of it at every comparable rate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MInference (52.89, a sparse-attention baseline) from 30% keep onward, without needing a searched attention pattern</a:t>
            </a:r>
            <a:endParaRPr lang="en-US" sz="1600" dirty="0"/>
          </a:p>
        </p:txBody>
      </p:sp>
      <p:pic>
        <p:nvPicPr>
          <p:cNvPr id="4" name="Picture 3" descr="table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03" y="2930160"/>
            <a:ext cx="8397144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03712"/>
            <a:ext cx="11091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>
                <a:solidFill>
                  <a:srgbClr val="595959"/>
                </a:solidFill>
                <a:latin typeface="Calibri"/>
              </a:rPr>
              <a:t>Table 1, Liu, Chen &amp; Zhang (2025) — Llama-3.1-70B-Instruct base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single-turn pruning each turn doesn't work for a persistent conversation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is information loss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persistent target and speculator KV cache (nothing evicted)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keep rate (k), KV granularity (g)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Persistent Caches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both persistent across the whole conversation — neither is reset between turns (unlike normal)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(Llama-3.2-1B): its own KV cache, grows every turn, used only to score token importance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(Llama-3.1-8B): its own KV cache, grows every turn, never evicts a single token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929487" y="3246120"/>
            <a:ext cx="47548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Speculator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487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Calibri"/>
              </a:rPr>
              <a:t>Llama-3.2-1B  ·  own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9527" y="4114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Persistent KV Cache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grows every turn,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used only to score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token importance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7327" y="3246120"/>
            <a:ext cx="47548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Target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327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Calibri"/>
              </a:rPr>
              <a:t>Llama-3.1-8B  ·  own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7367" y="4114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Persistent KV Cache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grows every turn,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nothing ever evicted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922775"/>
            <a:ext cx="67665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8879" y="3639311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scores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4559" y="4151375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selects blocks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steps repeat every turn, against a context that only ever grows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of the new turn's own tokens is sparse too (except turn 0) — selected blocks plus a contiguous tail of this turn's own tokens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64311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①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Turn N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arrives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10231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1399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②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Speculator scores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full context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57319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③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Select top-k%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blocks (size 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04407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5575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④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Target: sparse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prefill — selected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blocks + own tail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51495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663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⑤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Target: sparse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decode (gather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selected blocks)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98583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99751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⑥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Append to cache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— nothing evicted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664311" y="4617720"/>
            <a:ext cx="10863072" cy="237744"/>
          </a:xfrm>
          <a:prstGeom prst="lef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4311" y="4343400"/>
            <a:ext cx="108630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repeats every turn, against a context that only ever grows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Syncing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speculator doesn't generate the target's answer — so before it can score turn N, it has to catch up on what the target actually said in turn N−1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get appended to the speculator's own persistent KV cache every turn: the target's ACTUAL generated output from the previous turn, plus this turn's new query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earlier is a cache hit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86587" y="416052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Speculator cache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(turns 0…N−1's query)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already resident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2861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21227" y="4160520"/>
            <a:ext cx="2514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+ Target's actual</a:t>
            </a:r>
          </a:p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output, turn N−1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325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5867" y="4160520"/>
            <a:ext cx="2514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+ This turn's</a:t>
            </a:r>
          </a:p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new query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789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0507" y="416052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Speculator synced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→ ready to score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turn N's full context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Compressed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compute and KV-bandwidth shrink on both prefill and decode — not the KV cache itself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keep_mode = keep only: a block skipped this turn may be exactly what turn t+4 needs (cross-turn attention drift), so nothing is ever discarded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always dense — restricting the very first prefill would poison the cache every later turn’s selection reads from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self-generated: future turns are built from the model's own actual output, not golden reference text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066647" y="3703320"/>
            <a:ext cx="47548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Prefill (turn ≥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7" y="4206240"/>
            <a:ext cx="475488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SPARSE — selected blocks +</a:t>
            </a:r>
          </a:p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a contiguous tail of new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0167" y="3703320"/>
            <a:ext cx="47548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Decode (generating the answer)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4206240"/>
            <a:ext cx="475488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SPARSE — attends only to the</a:t>
            </a:r>
          </a:p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top-k% selected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5605271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keep_mode = keep  →  nothing is ever discarded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Concept: A Basic FLOP Calculation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FLOPs(L) ≈ linear·L + attention·L²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Llama-3.1-8B ≈ 13.96 GFLOP/token linear + attention ∝ 524,288·L²/2;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Llama-3.2-1B ≈ 1.95 GFLOP/token (~7.2x cheaper) linear, attention coefficient ~4x smaller (2x fewer layers, 2x smaller head dimension)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at L=128,000 (Llama-3.1's context ceiling): M000 dense target prefill ≈6,082 TFLOP (4,295 attention + 1,787 linear); speculator's own dense prefill ≈1,323 TFLOP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system cost (speculator + pruned target) vs. M000, by keep rate: k=80% → 90.5% (barely a win); k=60% → 64.8%; k=40% → 44.8%; k=20% → 30.5% (~3.3x reduction)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also a decode time reduction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Models &amp;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Target: Llama-3.1-8B-Instruct  ·  Speculator: Llama-3.2-1B-Instruct — both BF16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Benchmark: SCBench (arXiv:2412.10319, microsoft/SCBench on Hugging Face)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In general 5-6 turns per prompt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3 of SCBench's 12 configs used: scbench_kv, scbench_qa_eng,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endParaRPr lang="en-US" sz="16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Some prompts skipped due to exceeding max context length of target model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Hardware: 2x A100 80GB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8136" y="4526280"/>
            <a:ext cx="36576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TURN 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Long shared context (~100K+ tokens)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↓ dense prefill ↓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Target KV Cache + Speculator KV Cache — both built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91456" y="5157216"/>
            <a:ext cx="320040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9437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1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7" name="Rectangle 6"/>
          <p:cNvSpPr/>
          <p:nvPr/>
        </p:nvSpPr>
        <p:spPr>
          <a:xfrm>
            <a:off x="680313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2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8" name="Rectangle 7"/>
          <p:cNvSpPr/>
          <p:nvPr/>
        </p:nvSpPr>
        <p:spPr>
          <a:xfrm>
            <a:off x="831189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065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4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scbench_kv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exact key/value retrieval   ·   metric: in_match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ourier New" pitchFamily="34" charset="0"/>
                <a:cs typeface="Courier New" pitchFamily="34" charset="0"/>
              </a:rPr>
              <a:t>Context (200,011 chars): {"798c2306-...": "5e6b7b90-...", "6ab6ea3e-...": "cb59052b-...", "3ebf05c3-...": "a9ee6345-...", ...}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Key: "6ab6ea3e-f288-4f33-ba46-7f42bb75b03f"  →  the value associated with the specified key is: ___   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cb59052b-9128-4979-9c0e-e1de4adcf73b</a:t>
            </a:r>
          </a:p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scbench_qa_eng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semantic retrieval / free-form QA   ·   metric: qa_f1_score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"Yes, of course, if it’s fine to-morrow," said Mrs Bronwyn. "But you’ll have to be up with the lark,"… (381,748 chars — a long literary narrative; character names substituted from the source text)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"Which among Annalisa, Seb, Peyton, and Gannonmarie is not Mrs. Bronwyn’s child?"   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"Peyton"</a:t>
            </a:r>
          </a:p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global-information summarization   ·   metric: rouge_l_f1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Paper Title: Spontaneous CP violation, sterile neutrino dark matter, and leptogenesis / Text: … (344,064 chars — dozens of concatenated academic paper texts)</a:t>
            </a:r>
          </a:p>
          <a:p>
            <a:pPr marL="6858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"Summarize the key contribution of the paper titled ‘Some Properties of Order-Divisor Graphs of Finite Groups’ in one sentence."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"...providing a comprehensive analysis of the structural properties of order-divisor graphs associated with finite groups..."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Hyperparameters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Metrics ported from microsoft/MInference/scbench/eval_utils.py, one per config: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scbench_kv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in_match (exact / substring retrieval)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scbench_qa_eng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qa_f1_score (token-overlap F1)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rouge_l_f1 (LCS-based ROUGE-L reimplementation)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Shared hyperparameters: BF16  ·  look-ahead count 8  ·  pool_kernel_size 13  ·  enforce_eager=True on both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0">
                <a:solidFill>
                  <a:srgbClr val="000000"/>
                </a:solidFill>
                <a:latin typeface="Calibri"/>
              </a:rPr>
              <a:t>Dataset scale (all 3 configs, matched against SCBench's own reference answers):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4248" y="406908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Conversations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Matched Turns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scbench_kv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scbench_qa_eng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~24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~194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1,201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Grid sweeps keep rate (k = 80/60/40/20%) x KV granularity (g = 32/64) = 8 SPARSE configs, plus a dense baseline and 4 ORACLE ceiling rows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ORACLE-k{N} = SPARSE-k{N}-g32 with one change: the TARGET checkpoint scores its own attention instead of the 1B speculator estimating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726336"/>
              </p:ext>
            </p:extLst>
          </p:nvPr>
        </p:nvGraphicFramePr>
        <p:xfrm>
          <a:off x="1214141" y="3246120"/>
          <a:ext cx="976067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Keep Rate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KV Granularity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M000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Baseline (no pruning)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ORACLE-k{80,60,40,20}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Oracle upper bound — target checkpoint scores instead of the speculator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80/60/40/20%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32  (pairs with SPARSE-g32)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SPARSE-k{80,60,40,20}-g{16,32,64}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  <a:latin typeface="Calibri"/>
                        </a:rPr>
                        <a:t>Persistent cache + sparse attention — the actual method (12 configs)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80/60/40/20%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  <a:latin typeface="Calibri"/>
                        </a:rPr>
                        <a:t>32 /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Accuracy — scbench_qa_eng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lands within 4 points of the dense M000 baseline of 27.26; g64's best (27.12 at keep 80%) is within 0.14.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monotonic: keep 20% scores above keep 40% at both granularities — 24.06 against 23.57 at g32, 25.24 against 25.15 at g64.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matched turns from 23 conversations — 47 of 69 skipped for exceeding the speculator's context budget — puts the standard error near 2 points.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row is resolvable; read this as no measurable effect, not a dose-response.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Token-overlap F1 leaves little headroom: even the dense baseline only reaches 27.26.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1148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scbench_qa_eng   (M000 dense = 27.26)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g32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g64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26.43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27.12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24.06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qa_f1_score (token-overlap F1). 117 matched turns from 23 conversations.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Accuracy — scbench_summary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across the entire sweep: g32 spans 0.7 points and g64 spans 1.1, against a dense M000 baseline of 36.04.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monotonic — keep 60% and keep 40% score above keep 80% at both granularities.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configurations edge above the dense baseline (36.26 at g32, keep 60%), which is noise rather than improvement.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matched turns from 70 conversations — better powered than qa_eng, and still nothing clears zero.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on global summaries appears insensitive to which specific tokens survive selection.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1148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scbench_summary   (M000 dense = 36.04)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g32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g64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35.89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36.01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36.26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36.24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36.08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36.20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35.56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35.17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rouge_l_f1 (LCS-based ROUGE-L). 350 matched turns from 70 conversations.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Accuracy — scbench_kv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g64 reaches 80.80 at keep 80%, within 0.8 points of the dense M000 baseline of 81.60, and falls to 52.00 at keep 20%.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monotonic on both axes — no exceptions in either direction.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g64 beats g32 at every keep rate, by 1.8 to 5.4 points.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5% relative drop, only keep 80% clears it (−1.0%); keep 60% just misses (−5.1%) and keep 20% gives up 36% of the baseline.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turn 0 the scores rise to 84.75 / 81.00 / 72.25 / 53.25 at g64 — turn 0 is the hardest turn, and increasingly so as the keep rate tightens.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1148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scbench_kv   (M000 dense = 81.60)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g32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g64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79.00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72.00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77.40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63.60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69.00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48.80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52.00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in_match (exact / substring retrieval). 500 matched turns from 100 conversations.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what the 25-point gap is made of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ORACLE-k20 is SPARSE-k20-g32 with one change — the 8B target scores its own attention instead of the 1B estimating it, which separates estimator error from mechanism cost.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25-point degradation splits roughly 2:1: 17.0 points are the 1B's estimation error, 8.0 the block-sparse mechanism itself.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pass is ~0.007% of a turn's FLOPs, so those 17 points are the cheapest available.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gap compounds across turns — one per-turn selection problem repeated five times, not an accumulating one.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the 1B to four retrieval heads already recovers 8.6 of the 17, at lower cost.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11480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scbench_kv, keep 20%, g32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gap to M000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M000 — dense, no pruning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81.60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ORACLE-k20 — target scores itself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73.60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mechanism 8.0 (32%)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SPARSE-k20-g32 — 1B scores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56.60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estimator 17.0 (68%)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in_match on scbench_kv, 500 turns. Decode-only scope — no oracle row has been run under sparse prefill.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FLOPs (steady state, turn 0 excluded)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excluded throughout — it costs SPARSE ~21% more than dense on every config, so break-even on kv needs ~418 steady-state turns against SCBench's four.</a:t>
            </a:r>
            <a:endParaRPr lang="en-US" sz="1600" dirty="0"/>
          </a:p>
        </p:txBody>
      </p:sp>
      <p:sp>
        <p:nvSpPr>
          <p:cNvPr id="6" name="Caption 5"/>
          <p:cNvSpPr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Stacked TFLOP per turn at g64, turns 1+ only, on a shared vertical scale. 400 / 94 / 280 steady-state turns from 100 / 23 / 70 conversations.</a:t>
            </a:r>
          </a:p>
        </p:txBody>
      </p:sp>
      <p:graphicFrame>
        <p:nvGraphicFramePr>
          <p:cNvPr id="10" name="Chart 4"/>
          <p:cNvGraphicFramePr/>
          <p:nvPr/>
        </p:nvGraphicFramePr>
        <p:xfrm>
          <a:off x="558840" y="2560320"/>
          <a:ext cx="3600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5"/>
          <p:cNvGraphicFramePr/>
          <p:nvPr/>
        </p:nvGraphicFramePr>
        <p:xfrm>
          <a:off x="4296000" y="2560320"/>
          <a:ext cx="3600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6"/>
          <p:cNvGraphicFramePr/>
          <p:nvPr/>
        </p:nvGraphicFramePr>
        <p:xfrm>
          <a:off x="8033160" y="2560320"/>
          <a:ext cx="3600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when speculation pays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scorer costs the same every turn whatever that turn contains, so speculation pays more when more tokens are generated / processed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questions and longer answers help equally. Short Q&amp;A is the worst case, and SCBench's five short turns over one huge context sit close to it.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scorer's size relative to the target sets a hard ceiling on the useful keep rate</a:t>
            </a:r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it takes a structurally cheaper scorer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11480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Turn shape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Pays for itself after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Short Q&amp;A over a long context (SCBench)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hundreds of turns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Code assistant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tens of turns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Document pasted each turn, or long generation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about ten turns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Derivation, coefficients and the full scenario tables: SPECULATION_ECONOMICS.md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CEB61-C348-0834-ADFD-CFBFA5CE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3F3FF2-DAD0-C669-F4E6-BE1BEB55AD22}"/>
              </a:ext>
            </a:extLst>
          </p:cNvPr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22B01F-EBD0-9374-5708-75326D9AC073}"/>
              </a:ext>
            </a:extLst>
          </p:cNvPr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more on certain questions styles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grading metric is questionable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when to first use speculation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483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other model families / sizes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other question styles 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when to run speculation for the first time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Since the speculation is external from the target model, it is likely possible that we can adaptively choose when to apply selection based on conditions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Test speculation using first n layers of target model rather than external speculator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Test mid decode rescoring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3351</Words>
  <Application>Microsoft Office PowerPoint</Application>
  <PresentationFormat>Widescreen</PresentationFormat>
  <Paragraphs>432</Paragraphs>
  <Slides>31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Speculative Prefill for Multi-Turn Conversation — Template</dc:title>
  <dc:subject>PptxGenJS Presentation</dc:subject>
  <dc:creator>PptxGenJS</dc:creator>
  <cp:lastModifiedBy>Alan Di (FESCO Adecco Human Resources)</cp:lastModifiedBy>
  <cp:revision>18</cp:revision>
  <dcterms:created xsi:type="dcterms:W3CDTF">2026-08-25T06:23:25Z</dcterms:created>
  <dcterms:modified xsi:type="dcterms:W3CDTF">2026-08-27T06:01:07Z</dcterms:modified>
</cp:coreProperties>
</file>