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2" r:id="rId13"/>
    <p:sldId id="261" r:id="rId14"/>
    <p:sldId id="270" r:id="rId15"/>
    <p:sldId id="280" r:id="rId16"/>
    <p:sldId id="283" r:id="rId17"/>
    <p:sldId id="281" r:id="rId18"/>
    <p:sldId id="260" r:id="rId19"/>
    <p:sldId id="262" r:id="rId20"/>
    <p:sldId id="284" r:id="rId21"/>
    <p:sldId id="285" r:id="rId22"/>
    <p:sldId id="286" r:id="rId23"/>
    <p:sldId id="263" r:id="rId24"/>
    <p:sldId id="264" r:id="rId25"/>
    <p:sldId id="265" r:id="rId26"/>
    <p:sldId id="271" r:id="rId27"/>
    <p:sldId id="269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5109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674C5-0DA5-CD99-1063-6F13B3FA1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A06357-9FF0-2CA3-1FCF-FC50F7A575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52F890-7AB5-5459-7F56-8A33A1F00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B036F-432E-12FF-20CE-901B4394F7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355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87F8E-D73E-52CF-DE1C-E68E3947F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4D8F38-B7F4-FC86-46A9-1ADA6DD05D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44E93F-D0B9-C618-0AF6-926272FC16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3E77F-D793-0A6A-5E08-3A630C6384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371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Prefill for Multi-Turn Conversation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5661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long-context LLM serving is expensive — TTFT scales with prompt length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multi-turn conversation, the cost incurred every turn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agents are multi-turn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 can token preselection keep serving cheap turn after turn, without losing accuracy?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SpecPrefill (arXiv:2502.02789, ICML 2025)</a:t>
            </a:r>
            <a:endParaRPr lang="en-US" sz="1600" dirty="0"/>
          </a:p>
          <a:p>
            <a:pPr marL="685800" lvl="1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proposes, single-turn setting, headline results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SCBench (arXiv:2412.10319)</a:t>
            </a:r>
            <a:endParaRPr lang="en-US" sz="1600" dirty="0"/>
          </a:p>
          <a:p>
            <a:pPr marL="685800" lvl="1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KV-cache-centric benchmark design, why multi-turn needs its own benchmark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sparse-KV / long-context methods (context for what this project does NOT implement)</a:t>
            </a:r>
            <a:endParaRPr lang="en-US" sz="1600" dirty="0"/>
          </a:p>
          <a:p>
            <a:pPr marL="685800" lvl="1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H2O, StreamingLLM, Quest, KVzip, HeadKV — one line each on approach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this project addresses: does SpecPrefill's idea generalize to a persistent, growing multi-turn cache?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Prefill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retain most of their quality given only a carefully chosen subset of prompt tokens — and adapt to this zero-shot, no fine-tuning needed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a cheap “speculator” model predicts which tokens matter; only those tokens, plus their original position info, go to the expensive base model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Training-free — implemented as a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monkey-patch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FLOPs roughly proportional to the percentage of tokens dropped — shrinks both attention and the MLP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target prefill phase and decode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952347" y="4617720"/>
            <a:ext cx="23317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Full Prompt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(L tokens)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311499" y="5088636"/>
            <a:ext cx="265176" cy="201168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04107" y="4617720"/>
            <a:ext cx="23317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Speculator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(small model)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scores every token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63259" y="5088636"/>
            <a:ext cx="265176" cy="201168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55867" y="4617720"/>
            <a:ext cx="23317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Keep top-k%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restore original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positions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615019" y="5088636"/>
            <a:ext cx="265176" cy="201168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07627" y="4617720"/>
            <a:ext cx="23317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Base Model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(large)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prefill only k·L tokens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1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speculator decodes N look-ahead steps, storing its queries; attention scores against those queries decide which prompt tokens survive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survivors — with their original position ids restored — are handed to the base model's forward pass</a:t>
            </a:r>
            <a:endParaRPr lang="en-US" sz="1600" dirty="0"/>
          </a:p>
        </p:txBody>
      </p:sp>
      <p:pic>
        <p:nvPicPr>
          <p:cNvPr id="4" name="Picture 3" descr="algo1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928" y="2514600"/>
            <a:ext cx="3229837" cy="3520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108192"/>
            <a:ext cx="1109167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  <a:latin typeface="Calibri"/>
              </a:rPr>
              <a:t>Algorithm 1, Liu, Chen &amp; Zhang (2025)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Speculator “Look-Ahead”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last-token attention is biased: the “sink” phenomenon (first tokens overweighted) and proximity bias (tokens near the output overweighted)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decode the speculator N extra steps and use the new tokens' attention instead of just the prompt's last token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trades bias reduction against budget — the paper found going beyond 16 look-ahead steps gives minimal extra gain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project's own pipeline uses look-ahead = 8, matching the paper's evaluation</a:t>
            </a:r>
            <a:endParaRPr lang="en-US" sz="16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49527" y="3794760"/>
          <a:ext cx="9692638" cy="2331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954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16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5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00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Task (avg. length)</a:t>
                      </a:r>
                    </a:p>
                  </a:txBody>
                  <a:tcPr marL="54864" marR="54864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Keep Rate</a:t>
                      </a:r>
                    </a:p>
                  </a:txBody>
                  <a:tcPr marL="54864" marR="54864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w/o Look-Ahead</a:t>
                      </a:r>
                    </a:p>
                  </a:txBody>
                  <a:tcPr marL="54864" marR="54864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w/ Look-Ahead (N=8)</a:t>
                      </a:r>
                    </a:p>
                  </a:txBody>
                  <a:tcPr marL="54864" marR="54864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marL="54864" marR="54864" marT="18288" marB="18288"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LCC (3.2K tok)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62.3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70.5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+8.2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LCC (3.2K tok)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69.6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70.9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+1.3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RepoBench-P (10.8K tok)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65.8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70.5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+4.7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RepoBench-P (10.8K tok)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71.6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73.3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+1.7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QMSum (13.9K tok)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23.6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24.7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+1.1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MultiNews (2.6K tok)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19.7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20.7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+1.0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VCSUM-zh (11.0K tok)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15.3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15.3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~0.0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49527" y="6172200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 i="1">
                <a:solidFill>
                  <a:srgbClr val="595959"/>
                </a:solidFill>
                <a:latin typeface="Calibri"/>
              </a:rPr>
              <a:t>Source: Figure 2, Liu, Chen &amp; Zhang (2025) — Llama-3.1-405B-Instruct-FP8, SpecPrefill Full vs. Full LAH; values read from chart (±0.2)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Aggregating Attention into Token Importance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score tensor shape [N, L, S, H] — look-ahead steps × layers × sequence × heads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over (layer, head): lets salient tokens stand out instead of being averaged away by uninformative heads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over N (look-ahead steps): fair contribution across the look-ahead window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re-confirmed max-over-(layer,head) is right — replacing it with mean made results worse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a small subset (2-4) “retrieval heads” may provide a small accuracy improvement on some questions, needs to be investigated further – based on Wu, Wang, Xiao, Peng &amp; Fu (2024), “Retrieval Head Mechanistically Explains Long-Context Factuality,” arXiv:2404.15574 (ICLR 2025)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endParaRPr lang="en-US" sz="16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ts val="2100"/>
              </a:lnSpc>
              <a:spcAft>
                <a:spcPts val="1000"/>
              </a:spcAft>
              <a:buSzPct val="100000"/>
            </a:pPr>
            <a:endParaRPr lang="en-US" sz="16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ts val="2100"/>
              </a:lnSpc>
              <a:spcAft>
                <a:spcPts val="1000"/>
              </a:spcAft>
              <a:buSzPct val="100000"/>
            </a:pP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1066647" y="489204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Attention Scores</a:t>
            </a:r>
          </a:p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[N, L, S, H]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855567" y="5257800"/>
            <a:ext cx="822960" cy="182880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98367" y="4562855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Calibri"/>
              </a:rPr>
              <a:t>max over (layer, head)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4247" y="489204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[N, S]</a:t>
            </a:r>
          </a:p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(per look-ahead step,</a:t>
            </a:r>
          </a:p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per token)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513167" y="5257800"/>
            <a:ext cx="822960" cy="182880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55967" y="4562855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Calibri"/>
              </a:rPr>
              <a:t>mean over N steps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81847" y="489204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Token Importance</a:t>
            </a:r>
          </a:p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[S]  (one score/token)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Selection &amp; Pooling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positioned near each other share similar importance (locality)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the context, average the token score within each chunk, select the top-K chunks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1D average pooling before chunking, to smooth out chunk-boundary artifacts</a:t>
            </a: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4069079" y="2606040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Token-level importance scores</a:t>
            </a:r>
          </a:p>
        </p:txBody>
      </p:sp>
      <p:sp>
        <p:nvSpPr>
          <p:cNvPr id="5" name="Down Arrow 4"/>
          <p:cNvSpPr/>
          <p:nvPr/>
        </p:nvSpPr>
        <p:spPr>
          <a:xfrm>
            <a:off x="5934455" y="3163824"/>
            <a:ext cx="201168" cy="256032"/>
          </a:xfrm>
          <a:prstGeom prst="down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3145536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1">
                <a:solidFill>
                  <a:srgbClr val="000000"/>
                </a:solidFill>
                <a:latin typeface="Calibri"/>
              </a:rPr>
              <a:t>1D average pool, then chunk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9079" y="3474720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Pooled, chunked scores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34455" y="4032504"/>
            <a:ext cx="201168" cy="256032"/>
          </a:xfrm>
          <a:prstGeom prst="down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4014215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1">
                <a:solidFill>
                  <a:srgbClr val="000000"/>
                </a:solidFill>
                <a:latin typeface="Calibri"/>
              </a:rPr>
              <a:t>select top-K chunks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0079" y="4434840"/>
            <a:ext cx="123444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chunk 1</a:t>
            </a:r>
          </a:p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KEEP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79111" y="4434840"/>
            <a:ext cx="1234440" cy="685800"/>
          </a:xfrm>
          <a:prstGeom prst="rect">
            <a:avLst/>
          </a:prstGeom>
          <a:solidFill>
            <a:srgbClr val="E6E6E6"/>
          </a:solidFill>
          <a:ln w="1270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chunk 2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DROP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8143" y="4434840"/>
            <a:ext cx="123444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chunk 3</a:t>
            </a:r>
          </a:p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KEEP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77175" y="4434840"/>
            <a:ext cx="1234440" cy="685800"/>
          </a:xfrm>
          <a:prstGeom prst="rect">
            <a:avLst/>
          </a:prstGeom>
          <a:solidFill>
            <a:srgbClr val="E6E6E6"/>
          </a:solidFill>
          <a:ln w="1270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chunk 4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DROP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Choice: Restoring Position IDs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tokens are non-contiguous — the base model needs their ORIGINAL positions, not a renumbered sequence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below (10 prompt tokens, 3 decoding tokens)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Decoding-token positions are explicitly offset to the original context length, even if tokens were dropped before them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to be crucially essential for position-sensitive tasks — retrieval, counting</a:t>
            </a:r>
            <a:endParaRPr lang="en-US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2770632"/>
            <a:ext cx="1109167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Calibri"/>
              </a:rPr>
              <a:t>Original prompt positions (kept = solid, dropped = dashed)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2401671" y="3063240"/>
            <a:ext cx="640080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0</a:t>
            </a:r>
          </a:p>
        </p:txBody>
      </p:sp>
      <p:sp>
        <p:nvSpPr>
          <p:cNvPr id="6" name="Rectangle 5"/>
          <p:cNvSpPr/>
          <p:nvPr/>
        </p:nvSpPr>
        <p:spPr>
          <a:xfrm>
            <a:off x="3151479" y="3063240"/>
            <a:ext cx="640080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3901287" y="3063240"/>
            <a:ext cx="640080" cy="502920"/>
          </a:xfrm>
          <a:prstGeom prst="rect">
            <a:avLst/>
          </a:prstGeom>
          <a:solidFill>
            <a:srgbClr val="E6E6E6"/>
          </a:solidFill>
          <a:ln w="1270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4651095" y="3063240"/>
            <a:ext cx="640080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903" y="3063240"/>
            <a:ext cx="640080" cy="502920"/>
          </a:xfrm>
          <a:prstGeom prst="rect">
            <a:avLst/>
          </a:prstGeom>
          <a:solidFill>
            <a:srgbClr val="E6E6E6"/>
          </a:solidFill>
          <a:ln w="1270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50711" y="3063240"/>
            <a:ext cx="640080" cy="502920"/>
          </a:xfrm>
          <a:prstGeom prst="rect">
            <a:avLst/>
          </a:prstGeom>
          <a:solidFill>
            <a:srgbClr val="E6E6E6"/>
          </a:solidFill>
          <a:ln w="1270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0519" y="3063240"/>
            <a:ext cx="640080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50327" y="3063240"/>
            <a:ext cx="640080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00135" y="3063240"/>
            <a:ext cx="640080" cy="502920"/>
          </a:xfrm>
          <a:prstGeom prst="rect">
            <a:avLst/>
          </a:prstGeom>
          <a:solidFill>
            <a:srgbClr val="E6E6E6"/>
          </a:solidFill>
          <a:ln w="1270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9943" y="3063240"/>
            <a:ext cx="640080" cy="502920"/>
          </a:xfrm>
          <a:prstGeom prst="rect">
            <a:avLst/>
          </a:prstGeom>
          <a:solidFill>
            <a:srgbClr val="E6E6E6"/>
          </a:solidFill>
          <a:ln w="1270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76472"/>
            <a:ext cx="1109167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Calibri"/>
              </a:rPr>
              <a:t>Sent to the base model (original ids preserved + decode tokens appended)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01671" y="4069080"/>
            <a:ext cx="640080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51479" y="4069080"/>
            <a:ext cx="640080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51095" y="4069080"/>
            <a:ext cx="640080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0519" y="4069080"/>
            <a:ext cx="640080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50327" y="4069080"/>
            <a:ext cx="640080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99751" y="4069080"/>
            <a:ext cx="64008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49559" y="4069080"/>
            <a:ext cx="64008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399367" y="4069080"/>
            <a:ext cx="64008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TTFT Speedup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1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7.66x TTFT reduction on the 405B model at 10% keep rate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grows with batch size × sequence length, and grows further as base model size increases — the speculator's relative overhead shrinks</a:t>
            </a:r>
            <a:endParaRPr lang="en-US" sz="1600" dirty="0"/>
          </a:p>
        </p:txBody>
      </p:sp>
      <p:pic>
        <p:nvPicPr>
          <p:cNvPr id="4" name="Picture 3" descr="fig3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064" y="2514600"/>
            <a:ext cx="6239565" cy="3520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108192"/>
            <a:ext cx="1109167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  <a:latin typeface="Calibri"/>
              </a:rPr>
              <a:t>Figure 3, Liu, Chen &amp; Zhang (2025)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Quality vs. Efficiency Trade-off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preserved down to 10% keep rate for Single/Multi-Doc QA and Few-Shot Learning; graceful degradation for Summarization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empirical query categories: information-dense (compresses poorly), compressible (no quality loss), and noisy (quality can IMPROVE after pruning distracting tokens)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RAG-Llama, LLMLingua, and MInference baselines at comparable compression rates on LongBench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RULER long-context performance up to 64K tokens at 10% keep; degrades specifically on aggregation tasks, where every word matters for word-frequency reasoning</a:t>
            </a:r>
            <a:endParaRPr lang="en-US" sz="1600" dirty="0"/>
          </a:p>
        </p:txBody>
      </p:sp>
      <p:pic>
        <p:nvPicPr>
          <p:cNvPr id="4" name="Picture 3" descr="fig2_toprow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777" y="3794760"/>
            <a:ext cx="6461397" cy="22677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117336"/>
            <a:ext cx="1109167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50" i="1">
                <a:solidFill>
                  <a:srgbClr val="595959"/>
                </a:solidFill>
                <a:latin typeface="Calibri"/>
              </a:rPr>
              <a:t>Figure 2 (top row), Liu, Chen &amp; Zhang (2025) — Llama-3.1-405B-Instruct-FP8, keep rate 10%–90%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vs. Baseline: LongBench Comparison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1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SpecPrefill's average score (52.7–53.9 across all keep rates) sits within ~1 point of the unpruned baseline (53.55) — and slightly exceeds it at 30–70% keep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RAG-Llama and LLMLingua need much higher compression to approach SpecPrefill's average, and still fall short of it at every comparable rate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MInference (52.89, a sparse-attention baseline) from 30% keep onward, without needing a searched attention pattern</a:t>
            </a:r>
            <a:endParaRPr lang="en-US" sz="1600" dirty="0"/>
          </a:p>
        </p:txBody>
      </p:sp>
      <p:pic>
        <p:nvPicPr>
          <p:cNvPr id="4" name="Picture 3" descr="table1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903" y="2788920"/>
            <a:ext cx="8397144" cy="32735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117336"/>
            <a:ext cx="1109167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50" i="1">
                <a:solidFill>
                  <a:srgbClr val="595959"/>
                </a:solidFill>
                <a:latin typeface="Calibri"/>
              </a:rPr>
              <a:t>Table 1, Liu, Chen &amp; Zhang (2025) — Llama-3.1-70B-Instruct base model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2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Re-running single-turn pruning each turn doesn't work for a persistent conversation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is information loss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persistent target KV cache (nothing evicted) + sparse attention gather on prefill AND decode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parameters: keep rate (k), KV granularity (g), keep_mode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Persistent Caches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1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 both persistent across the whole conversation — neither is reset between turns (unlike normal)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Speculator (Llama-3.2-1B): its own KV cache, grows every turn, used only to score token importance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(Llama-3.1-8B): its own KV cache, grows every turn, never evicts a single token</a:t>
            </a: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929487" y="3246120"/>
            <a:ext cx="475488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Speculator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487" y="3703320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1">
                <a:solidFill>
                  <a:srgbClr val="595959"/>
                </a:solidFill>
                <a:latin typeface="Calibri"/>
              </a:rPr>
              <a:t>Llama-3.2-1B  ·  own GPU</a:t>
            </a:r>
          </a:p>
        </p:txBody>
      </p:sp>
      <p:sp>
        <p:nvSpPr>
          <p:cNvPr id="6" name="Rectangle 5"/>
          <p:cNvSpPr/>
          <p:nvPr/>
        </p:nvSpPr>
        <p:spPr>
          <a:xfrm>
            <a:off x="1249527" y="41148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Persistent KV Cache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grows every turn,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used only to score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token importance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07327" y="3246120"/>
            <a:ext cx="475488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Target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7327" y="3703320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1">
                <a:solidFill>
                  <a:srgbClr val="595959"/>
                </a:solidFill>
                <a:latin typeface="Calibri"/>
              </a:rPr>
              <a:t>Llama-3.1-8B  ·  own GPU</a:t>
            </a:r>
          </a:p>
        </p:txBody>
      </p:sp>
      <p:sp>
        <p:nvSpPr>
          <p:cNvPr id="9" name="Rectangle 8"/>
          <p:cNvSpPr/>
          <p:nvPr/>
        </p:nvSpPr>
        <p:spPr>
          <a:xfrm>
            <a:off x="6827367" y="41148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Persistent KV Cache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grows every turn,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nothing ever evicted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757519" y="3922775"/>
            <a:ext cx="676656" cy="201168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08879" y="3639311"/>
            <a:ext cx="177393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 i="0">
                <a:solidFill>
                  <a:srgbClr val="000000"/>
                </a:solidFill>
                <a:latin typeface="Calibri"/>
              </a:rPr>
              <a:t>scores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4559" y="4151375"/>
            <a:ext cx="23225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 i="0">
                <a:solidFill>
                  <a:srgbClr val="000000"/>
                </a:solidFill>
                <a:latin typeface="Calibri"/>
              </a:rPr>
              <a:t>selects blocks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Per-Turn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six steps repeat every turn, against a context that only ever grows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 of the new turn's own tokens is sparse too (except turn 0) — selected blocks plus a contiguous tail of this turn's own tokens</a:t>
            </a: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664311" y="3063240"/>
            <a:ext cx="162763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①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Turn N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arrives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310231" y="3598164"/>
            <a:ext cx="182879" cy="164592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11399" y="3063240"/>
            <a:ext cx="162763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②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Speculator scores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full context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57319" y="3598164"/>
            <a:ext cx="182879" cy="164592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58487" y="3063240"/>
            <a:ext cx="162763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③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Select top-k%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blocks (size g)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04407" y="3598164"/>
            <a:ext cx="182879" cy="164592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05575" y="3063240"/>
            <a:ext cx="162763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④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Target: sparse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prefill — selected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blocks + own tail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51495" y="3598164"/>
            <a:ext cx="182879" cy="164592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52663" y="3063240"/>
            <a:ext cx="162763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⑤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Target: sparse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decode (gather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selected blocks)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698583" y="3598164"/>
            <a:ext cx="182879" cy="164592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899751" y="3063240"/>
            <a:ext cx="162763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⑥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Append to cache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— nothing evicted</a:t>
            </a:r>
          </a:p>
        </p:txBody>
      </p:sp>
      <p:sp>
        <p:nvSpPr>
          <p:cNvPr id="15" name="Left Arrow 14"/>
          <p:cNvSpPr/>
          <p:nvPr/>
        </p:nvSpPr>
        <p:spPr>
          <a:xfrm>
            <a:off x="664311" y="4617720"/>
            <a:ext cx="10863072" cy="237744"/>
          </a:xfrm>
          <a:prstGeom prst="lef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4311" y="4343400"/>
            <a:ext cx="1086307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Calibri"/>
              </a:rPr>
              <a:t>repeats every turn, against a context that only ever grows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Syncing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2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speculator doesn't generate the target's answer — so before it can score turn N, it has to catch up on what the target actually said in turn N−1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get appended to the speculator's own persistent KV cache every turn: the target's ACTUAL generated output from the previous turn, plus this turn's new query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earlier is a cache hit</a:t>
            </a: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586587" y="4160520"/>
            <a:ext cx="2514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Speculator cache</a:t>
            </a:r>
          </a:p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(turns 0…N−1's query)</a:t>
            </a:r>
          </a:p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already resident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28619" y="4663440"/>
            <a:ext cx="265176" cy="182880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421227" y="4160520"/>
            <a:ext cx="2514600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50" b="1" dirty="0">
                <a:solidFill>
                  <a:srgbClr val="FFFFFF"/>
                </a:solidFill>
                <a:latin typeface="Calibri"/>
              </a:rPr>
              <a:t>+ Target's actual</a:t>
            </a:r>
          </a:p>
          <a:p>
            <a:pPr algn="ctr"/>
            <a:r>
              <a:rPr sz="1150" b="1" dirty="0">
                <a:solidFill>
                  <a:srgbClr val="FFFFFF"/>
                </a:solidFill>
                <a:latin typeface="Calibri"/>
              </a:rPr>
              <a:t>output, turn N−1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63259" y="4663440"/>
            <a:ext cx="265176" cy="182880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55867" y="4160520"/>
            <a:ext cx="2514600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+ This turn's</a:t>
            </a:r>
          </a:p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new query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7899" y="4663440"/>
            <a:ext cx="265176" cy="182880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090507" y="4160520"/>
            <a:ext cx="2514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Speculator synced</a:t>
            </a:r>
          </a:p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→ ready to score</a:t>
            </a:r>
          </a:p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turn N's full context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Actually Compressed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2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compute and KV-bandwidth shrink on both prefill and decode — not the KV cache itself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keep_mode = keep only: a block skipped this turn may be exactly what turn t+4 needs (cross-turn attention drift), so nothing is ever discarded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0 is always dense — restricting the very first prefill would poison the cache every later turn’s selection reads from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is self-generated: future turns are built from the model's own actual output, not golden reference text</a:t>
            </a: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1066647" y="3703320"/>
            <a:ext cx="475488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Prefill (turn ≥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6647" y="4206240"/>
            <a:ext cx="4754880" cy="123443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50" b="0">
                <a:solidFill>
                  <a:srgbClr val="000000"/>
                </a:solidFill>
                <a:latin typeface="Calibri"/>
              </a:rPr>
              <a:t>SPARSE — selected blocks +</a:t>
            </a:r>
          </a:p>
          <a:p>
            <a:pPr algn="ctr"/>
            <a:r>
              <a:rPr sz="1250" b="0">
                <a:solidFill>
                  <a:srgbClr val="000000"/>
                </a:solidFill>
                <a:latin typeface="Calibri"/>
              </a:rPr>
              <a:t>a contiguous tail of new tokens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70167" y="3703320"/>
            <a:ext cx="475488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Decode (generating the answer)</a:t>
            </a:r>
          </a:p>
        </p:txBody>
      </p:sp>
      <p:sp>
        <p:nvSpPr>
          <p:cNvPr id="7" name="Rectangle 6"/>
          <p:cNvSpPr/>
          <p:nvPr/>
        </p:nvSpPr>
        <p:spPr>
          <a:xfrm>
            <a:off x="6370167" y="4206240"/>
            <a:ext cx="4754880" cy="123443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50" b="0">
                <a:solidFill>
                  <a:srgbClr val="000000"/>
                </a:solidFill>
                <a:latin typeface="Calibri"/>
              </a:rPr>
              <a:t>SPARSE — attends only to the</a:t>
            </a:r>
          </a:p>
          <a:p>
            <a:pPr algn="ctr"/>
            <a:r>
              <a:rPr sz="1250" b="0">
                <a:solidFill>
                  <a:srgbClr val="000000"/>
                </a:solidFill>
                <a:latin typeface="Calibri"/>
              </a:rPr>
              <a:t>top-k% selected blocks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647" y="5605271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Calibri"/>
              </a:rPr>
              <a:t>keep_mode = keep  →  nothing is ever discarded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Concept: A Basic FLOP Calculation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FLOPs(L) ≈ linear·L + attention·L² — the quadratic attention term dominates at long context, so pruning tokens has outsized leverage there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coefficients (from flops_model.py): target Llama-3.1-8B ≈ 13.96 GFLOP/token linear + attention ∝ 524,288·L²/2; speculator Llama-3.2-1B ≈ 1.95 GFLOP/token (~7.2x cheaper), attention coefficient ~4x smaller (2x fewer layers, 2x smaller head dimension)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at L=128,000 (Llama-3.1's context ceiling): M000 dense target prefill ≈6,082 TFLOP (4,295 attention + 1,787 linear); speculator's own dense prefill ≈1,323 TFLOP (fixed cost, paid every turn regardless of keep rate)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system cost (speculator + pruned target) vs. M000, by keep rate: k=80% → 90.5% (barely a win); k=60% → 64.8%; k=40% → 44.8%; k=20% → 30.5% (~3.3x reduction)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also a decode time reduction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Setup: Models &amp; Benchmark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3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Target: Llama-3.1-8B-Instruct  ·  Speculator: Llama-3.2-1B-Instruct — both BF16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Benchmark: SCBench (arXiv:2412.10319, microsoft/SCBench on Hugging Face)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In general 5-6 turns per prompt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3 of SCBench's 12 configs used: scbench_kv, scbench_qa_eng,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scbench_summary</a:t>
            </a:r>
            <a:endParaRPr lang="en-US" sz="16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Some prompts skipped due to exceeding max context length of target model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Hardware: 2x A100 80GB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8136" y="4526280"/>
            <a:ext cx="3657600" cy="1463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TURN 0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Long shared context (~100K+ tokens)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↓ dense prefill ↓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Target KV Cache + Speculator KV Cache — both built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791456" y="5157216"/>
            <a:ext cx="320040" cy="201168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294376" y="4709160"/>
            <a:ext cx="1371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Turn 1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short Q</a:t>
            </a:r>
          </a:p>
        </p:txBody>
      </p:sp>
      <p:sp>
        <p:nvSpPr>
          <p:cNvPr id="7" name="Rectangle 6"/>
          <p:cNvSpPr/>
          <p:nvPr/>
        </p:nvSpPr>
        <p:spPr>
          <a:xfrm>
            <a:off x="6803136" y="4709160"/>
            <a:ext cx="1371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Turn 2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short Q</a:t>
            </a:r>
          </a:p>
        </p:txBody>
      </p:sp>
      <p:sp>
        <p:nvSpPr>
          <p:cNvPr id="8" name="Rectangle 7"/>
          <p:cNvSpPr/>
          <p:nvPr/>
        </p:nvSpPr>
        <p:spPr>
          <a:xfrm>
            <a:off x="8311896" y="4709160"/>
            <a:ext cx="1371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Turn 3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short Q</a:t>
            </a:r>
          </a:p>
        </p:txBody>
      </p:sp>
      <p:sp>
        <p:nvSpPr>
          <p:cNvPr id="9" name="Rectangle 8"/>
          <p:cNvSpPr/>
          <p:nvPr/>
        </p:nvSpPr>
        <p:spPr>
          <a:xfrm>
            <a:off x="9820656" y="4709160"/>
            <a:ext cx="1371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Turn 4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short Q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5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scbench_kv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 —  exact key/value retrieval   ·   metric: in_match</a:t>
            </a:r>
          </a:p>
          <a:p>
            <a:pPr marL="685800" indent="-342900">
              <a:lnSpc>
                <a:spcPts val="16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595959"/>
                </a:solidFill>
                <a:latin typeface="Courier New" pitchFamily="34" charset="0"/>
                <a:cs typeface="Courier New" pitchFamily="34" charset="0"/>
              </a:rPr>
              <a:t>Context (200,011 chars): {"798c2306-...": "5e6b7b90-...", "6ab6ea3e-...": "cb59052b-...", "3ebf05c3-...": "a9ee6345-...", ...}</a:t>
            </a:r>
          </a:p>
          <a:p>
            <a:pPr marL="6858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Q: Key: "6ab6ea3e-f288-4f33-ba46-7f42bb75b03f"  →  the value associated with the specified key is: ___    </a:t>
            </a: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A: cb59052b-9128-4979-9c0e-e1de4adcf73b</a:t>
            </a:r>
          </a:p>
          <a:p>
            <a:pPr marL="342900" indent="-342900">
              <a:lnSpc>
                <a:spcPts val="19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scbench_qa_eng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 —  semantic retrieval / free-form QA   ·   metric: qa_f1_score</a:t>
            </a:r>
          </a:p>
          <a:p>
            <a:pPr marL="685800" indent="-342900">
              <a:lnSpc>
                <a:spcPts val="16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"Yes, of course, if it’s fine to-morrow," said Mrs Bronwyn. "But you’ll have to be up with the lark,"… (381,748 chars — a long literary narrative; character names substituted from the source text)</a:t>
            </a:r>
          </a:p>
          <a:p>
            <a:pPr marL="6858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Q: "Which among Annalisa, Seb, Peyton, and Gannonmarie is not Mrs. Bronwyn’s child?"    </a:t>
            </a: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A: "Peyton"</a:t>
            </a:r>
          </a:p>
          <a:p>
            <a:pPr marL="342900" indent="-342900">
              <a:lnSpc>
                <a:spcPts val="19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scbench_summary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 —  global-information summarization   ·   metric: rouge_l_f1</a:t>
            </a:r>
          </a:p>
          <a:p>
            <a:pPr marL="685800" indent="-342900">
              <a:lnSpc>
                <a:spcPts val="16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Paper Title: Spontaneous CP violation, sterile neutrino dark matter, and leptogenesis / Text: … (344,064 chars — dozens of concatenated academic paper texts)</a:t>
            </a:r>
          </a:p>
          <a:p>
            <a:pPr marL="685800" indent="-342900">
              <a:lnSpc>
                <a:spcPts val="1700"/>
              </a:lnSpc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Q: "Summarize the key contribution of the paper titled ‘Some Properties of Order-Divisor Graphs of Finite Groups’ in one sentence."</a:t>
            </a:r>
          </a:p>
          <a:p>
            <a:pPr marL="6858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A: "...providing a comprehensive analysis of the structural properties of order-divisor graphs associated with finite groups..."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Matrix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1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Grid sweeps keep rate (k = 80/60/40/20%) x KV granularity (g = 16/32/64) = 12 SPARSE configs, plus a dense baseline and 4 ORACLE ceiling rows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ORACLE-k{N} = SPARSE-k{N}-g32 with one change: the TARGET checkpoint scores its own attention instead of the 1B speculator estimating it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290650"/>
              </p:ext>
            </p:extLst>
          </p:nvPr>
        </p:nvGraphicFramePr>
        <p:xfrm>
          <a:off x="1214141" y="3246120"/>
          <a:ext cx="976067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2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1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28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4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Label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Keep Rate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KV Granularity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M000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Baseline (no pruning)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ORACLE-k{80,60,40,20}</a:t>
                      </a:r>
                    </a:p>
                  </a:txBody>
                  <a:tcPr marL="73152" marR="73152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Oracle upper bound — target checkpoint scores instead of the speculator</a:t>
                      </a:r>
                    </a:p>
                  </a:txBody>
                  <a:tcPr marL="73152" marR="73152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80/60/40/20%</a:t>
                      </a:r>
                    </a:p>
                  </a:txBody>
                  <a:tcPr marL="73152" marR="73152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32  (pairs with SPARSE-g32)</a:t>
                      </a:r>
                    </a:p>
                  </a:txBody>
                  <a:tcPr marL="73152" marR="73152" marT="27432" marB="27432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SPARSE-k{80,60,40,20}-g{16,32,64}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dirty="0">
                          <a:solidFill>
                            <a:srgbClr val="000000"/>
                          </a:solidFill>
                          <a:latin typeface="Calibri"/>
                        </a:rPr>
                        <a:t>Persistent cache + sparse attention — the actual method (12 configs)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80/60/40/20%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dirty="0">
                          <a:solidFill>
                            <a:srgbClr val="000000"/>
                          </a:solidFill>
                          <a:latin typeface="Calibri"/>
                        </a:rPr>
                        <a:t>16 / 32 / 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Hyperparameters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3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Metrics ported from microsoft/MInference/scbench/eval_utils.py, one per config:</a:t>
            </a:r>
          </a:p>
          <a:p>
            <a:pPr marL="6858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scbench_kv</a:t>
            </a:r>
            <a:r>
              <a:rPr lang="en-US" sz="15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 →  in_match (exact / substring retrieval)</a:t>
            </a:r>
          </a:p>
          <a:p>
            <a:pPr marL="6858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scbench_qa_eng</a:t>
            </a:r>
            <a:r>
              <a:rPr lang="en-US" sz="15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 →  qa_f1_score (token-overlap F1)</a:t>
            </a:r>
          </a:p>
          <a:p>
            <a:pPr marL="6858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scbench_summary</a:t>
            </a:r>
            <a:r>
              <a:rPr lang="en-US" sz="15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 →  rouge_l_f1 (dependency-free LCS-based ROUGE-L reimplementation)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Shared hyperparameters: BF16  ·  look-ahead count 8  ·  pool_kernel_size 13  ·  enforce_eager=True on both engines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Hardware: 2x A100 80GB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03320"/>
            <a:ext cx="1109167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i="0">
                <a:solidFill>
                  <a:srgbClr val="000000"/>
                </a:solidFill>
                <a:latin typeface="Calibri"/>
              </a:rPr>
              <a:t>Dataset scale (all 3 configs, matched against SCBench's own reference answers):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84248" y="406908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3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Config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Conversations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Matched Turns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scbench_kv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~100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scbench_qa_eng</a:t>
                      </a:r>
                    </a:p>
                  </a:txBody>
                  <a:tcPr marL="73152" marR="73152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~24</a:t>
                      </a:r>
                    </a:p>
                  </a:txBody>
                  <a:tcPr marL="73152" marR="73152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117</a:t>
                      </a:r>
                    </a:p>
                  </a:txBody>
                  <a:tcPr marL="73152" marR="73152" marT="27432" marB="27432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scbench_summary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~70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350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~194</a:t>
                      </a:r>
                    </a:p>
                  </a:txBody>
                  <a:tcPr marL="73152" marR="73152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1,201</a:t>
                      </a:r>
                    </a:p>
                  </a:txBody>
                  <a:tcPr marL="73152" marR="73152" marT="27432" marB="27432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- accuracy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/ chart placeholder — score by keep rate x KV granularity, vs. baseline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numbers: baseline score, best case, worst case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observation(s)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Flops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/ chart 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Per-turn breakdown placeholder — does degradation compound across turns?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observation(s)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ECEB61-C348-0834-ADFD-CFBFA5CEF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83F3FF2-DAD0-C669-F4E6-BE1BEB55AD22}"/>
              </a:ext>
            </a:extLst>
          </p:cNvPr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C22B01F-EBD0-9374-5708-75326D9AC073}"/>
              </a:ext>
            </a:extLst>
          </p:cNvPr>
          <p:cNvSpPr/>
          <p:nvPr/>
        </p:nvSpPr>
        <p:spPr>
          <a:xfrm>
            <a:off x="548640" y="1280160"/>
            <a:ext cx="11094415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more on certain questions styles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endParaRPr lang="en-US" sz="16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84836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21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other model families / sizes</a:t>
            </a:r>
          </a:p>
          <a:p>
            <a:pPr marL="285750" indent="-285750">
              <a:lnSpc>
                <a:spcPts val="21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other question styles </a:t>
            </a:r>
          </a:p>
          <a:p>
            <a:pPr marL="285750" indent="-285750">
              <a:lnSpc>
                <a:spcPts val="21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when to run speculation for the first time</a:t>
            </a:r>
          </a:p>
          <a:p>
            <a:pPr marL="285750" indent="-285750">
              <a:lnSpc>
                <a:spcPts val="21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Since the speculation is external from the target model, it is likely possible that we can adaptively choose when to apply selection based on conditions</a:t>
            </a:r>
          </a:p>
          <a:p>
            <a:pPr marL="285750" indent="-285750">
              <a:lnSpc>
                <a:spcPts val="21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Test speculation using first n layers of target model rather than external speculator</a:t>
            </a:r>
          </a:p>
          <a:p>
            <a:pPr marL="285750" indent="-285750">
              <a:lnSpc>
                <a:spcPts val="21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Test mid decode rescoring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2576</Words>
  <Application>Microsoft Office PowerPoint</Application>
  <PresentationFormat>Widescreen</PresentationFormat>
  <Paragraphs>333</Paragraphs>
  <Slides>27</Slides>
  <Notes>12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Speculative Prefill for Multi-Turn Conversation — Template</dc:title>
  <dc:subject>PptxGenJS Presentation</dc:subject>
  <dc:creator>PptxGenJS</dc:creator>
  <cp:lastModifiedBy>Alan Di (FESCO Adecco Human Resources)</cp:lastModifiedBy>
  <cp:revision>11</cp:revision>
  <dcterms:created xsi:type="dcterms:W3CDTF">2026-08-25T06:23:25Z</dcterms:created>
  <dcterms:modified xsi:type="dcterms:W3CDTF">2026-08-26T06:29:42Z</dcterms:modified>
</cp:coreProperties>
</file>