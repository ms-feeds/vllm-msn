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Score by keep rate × KV granularity (M000 = 81.6)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g16</c:v>
                </c:pt>
              </c:strCache>
            </c:strRef>
          </c:tx>
          <c:spPr>
            <a:solidFill>
              <a:srgbClr val="FF6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k20</c:v>
                  </c:pt>
                  <c:pt idx="1">
                    <c:v>k40</c:v>
                  </c:pt>
                  <c:pt idx="2">
                    <c:v>k60</c:v>
                  </c:pt>
                  <c:pt idx="3">
                    <c:v>k80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46.6</c:v>
                </c:pt>
                <c:pt idx="1">
                  <c:v>62</c:v>
                </c:pt>
                <c:pt idx="2">
                  <c:v>72.6</c:v>
                </c:pt>
                <c:pt idx="3">
                  <c:v>78.6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g32</c:v>
                </c:pt>
              </c:strCache>
            </c:strRef>
          </c:tx>
          <c:spPr>
            <a:solidFill>
              <a:srgbClr val="7C8F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k20</c:v>
                  </c:pt>
                  <c:pt idx="1">
                    <c:v>k40</c:v>
                  </c:pt>
                  <c:pt idx="2">
                    <c:v>k60</c:v>
                  </c:pt>
                  <c:pt idx="3">
                    <c:v>k80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56.6</c:v>
                </c:pt>
                <c:pt idx="1">
                  <c:v>65.4</c:v>
                </c:pt>
                <c:pt idx="2">
                  <c:v>72.8</c:v>
                </c:pt>
                <c:pt idx="3">
                  <c:v>79.2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g64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k20</c:v>
                  </c:pt>
                  <c:pt idx="1">
                    <c:v>k40</c:v>
                  </c:pt>
                  <c:pt idx="2">
                    <c:v>k60</c:v>
                  </c:pt>
                  <c:pt idx="3">
                    <c:v>k80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62.2</c:v>
                </c:pt>
                <c:pt idx="1">
                  <c:v>70.8</c:v>
                </c:pt>
                <c:pt idx="2">
                  <c:v>76.8</c:v>
                </c:pt>
                <c:pt idx="3">
                  <c:v>80.8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A335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4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A335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M000</c:v>
                </c:pt>
              </c:strCache>
            </c:strRef>
          </c:tx>
          <c:spPr>
            <a:solidFill>
              <a:srgbClr val="FF6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turn 0</c:v>
                  </c:pt>
                  <c:pt idx="1">
                    <c:v>turn 1</c:v>
                  </c:pt>
                  <c:pt idx="2">
                    <c:v>turn 2</c:v>
                  </c:pt>
                  <c:pt idx="3">
                    <c:v>turn 3</c:v>
                  </c:pt>
                  <c:pt idx="4">
                    <c:v>turn 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81</c:v>
                </c:pt>
                <c:pt idx="2">
                  <c:v>84</c:v>
                </c:pt>
                <c:pt idx="3">
                  <c:v>87</c:v>
                </c:pt>
                <c:pt idx="4">
                  <c:v>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A33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8F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4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M000</c:v>
                  </c:pt>
                  <c:pt idx="1">
                    <c:v>ORACLE-k20</c:v>
                  </c:pt>
                  <c:pt idx="2">
                    <c:v>SPARSE-k20-g32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81.6</c:v>
                </c:pt>
                <c:pt idx="1">
                  <c:v>73.6</c:v>
                </c:pt>
                <c:pt idx="2">
                  <c:v>56.6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A335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8F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4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max
(baseline)</c:v>
                  </c:pt>
                  <c:pt idx="1">
                    <c:v>lyr2h</c:v>
                  </c:pt>
                  <c:pt idx="2">
                    <c:v>mean</c:v>
                  </c:pt>
                  <c:pt idx="3">
                    <c:v>zmean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56.6</c:v>
                </c:pt>
                <c:pt idx="1">
                  <c:v>58.2</c:v>
                </c:pt>
                <c:pt idx="2">
                  <c:v>44.2</c:v>
                </c:pt>
                <c:pt idx="3">
                  <c:v>39.4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A33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8F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4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1B
(speculator)</c:v>
                  </c:pt>
                  <c:pt idx="1">
                    <c:v>3B</c:v>
                  </c:pt>
                  <c:pt idx="2">
                    <c:v>8B
(= target)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56.6</c:v>
                </c:pt>
                <c:pt idx="1">
                  <c:v>65</c:v>
                </c:pt>
                <c:pt idx="2">
                  <c:v>73.6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scbench_kv score, all 100 conversations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9AA7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7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7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7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FA7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8F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all heads
(baseline)</c:v>
                  </c:pt>
                  <c:pt idx="1">
                    <c:v>heads-1</c:v>
                  </c:pt>
                  <c:pt idx="2">
                    <c:v>heads-2</c:v>
                  </c:pt>
                  <c:pt idx="3">
                    <c:v>heads-4
(best)</c:v>
                  </c:pt>
                  <c:pt idx="4">
                    <c:v>oracle
3B scorer</c:v>
                  </c:pt>
                  <c:pt idx="5">
                    <c:v>oracle
8B ceiling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56.6</c:v>
                </c:pt>
                <c:pt idx="1">
                  <c:v>61.8</c:v>
                </c:pt>
                <c:pt idx="2">
                  <c:v>64.4</c:v>
                </c:pt>
                <c:pt idx="3">
                  <c:v>65.2</c:v>
                </c:pt>
                <c:pt idx="4">
                  <c:v>65</c:v>
                </c:pt>
                <c:pt idx="5">
                  <c:v>73.6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A33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188720"/>
            <a:ext cx="1188720" cy="548640"/>
          </a:xfrm>
          <a:prstGeom prst="line">
            <a:avLst/>
          </a:prstGeom>
          <a:noFill/>
          <a:ln w="15875">
            <a:solidFill>
              <a:srgbClr val="3B46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9326880" y="1188720"/>
            <a:ext cx="365760" cy="1188720"/>
          </a:xfrm>
          <a:prstGeom prst="line">
            <a:avLst/>
          </a:prstGeom>
          <a:noFill/>
          <a:ln w="15875">
            <a:solidFill>
              <a:srgbClr val="3B46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10607040" y="1737360"/>
            <a:ext cx="274320" cy="1280160"/>
          </a:xfrm>
          <a:prstGeom prst="line">
            <a:avLst/>
          </a:prstGeom>
          <a:noFill/>
          <a:ln w="15875">
            <a:solidFill>
              <a:srgbClr val="3B46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2377440"/>
            <a:ext cx="1280160" cy="640080"/>
          </a:xfrm>
          <a:prstGeom prst="line">
            <a:avLst/>
          </a:prstGeom>
          <a:noFill/>
          <a:ln w="15875">
            <a:solidFill>
              <a:srgbClr val="3B469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2377440"/>
            <a:ext cx="548640" cy="1463040"/>
          </a:xfrm>
          <a:prstGeom prst="line">
            <a:avLst/>
          </a:prstGeom>
          <a:noFill/>
          <a:ln w="15875">
            <a:solidFill>
              <a:srgbClr val="3B46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0" y="3017520"/>
            <a:ext cx="640080" cy="1188720"/>
          </a:xfrm>
          <a:prstGeom prst="line">
            <a:avLst/>
          </a:prstGeom>
          <a:noFill/>
          <a:ln w="15875">
            <a:solidFill>
              <a:srgbClr val="3B46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0" y="3840480"/>
            <a:ext cx="1371600" cy="365760"/>
          </a:xfrm>
          <a:prstGeom prst="line">
            <a:avLst/>
          </a:prstGeom>
          <a:noFill/>
          <a:ln w="15875">
            <a:solidFill>
              <a:srgbClr val="3B469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9509760" y="3840480"/>
            <a:ext cx="365760" cy="1005840"/>
          </a:xfrm>
          <a:prstGeom prst="line">
            <a:avLst/>
          </a:prstGeom>
          <a:noFill/>
          <a:ln w="15875">
            <a:solidFill>
              <a:srgbClr val="3B469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0698480" y="4206240"/>
            <a:ext cx="548640" cy="1188720"/>
          </a:xfrm>
          <a:prstGeom prst="line">
            <a:avLst/>
          </a:prstGeom>
          <a:noFill/>
          <a:ln w="15875">
            <a:solidFill>
              <a:srgbClr val="3B46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0" y="4846320"/>
            <a:ext cx="1188720" cy="548640"/>
          </a:xfrm>
          <a:prstGeom prst="line">
            <a:avLst/>
          </a:prstGeom>
          <a:noFill/>
          <a:ln w="15875">
            <a:solidFill>
              <a:srgbClr val="3B469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10344" y="110642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99064" y="165506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9244584" y="229514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24744" y="293522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Shape 14"/>
          <p:cNvSpPr/>
          <p:nvPr/>
        </p:nvSpPr>
        <p:spPr>
          <a:xfrm>
            <a:off x="9793224" y="375818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64824" y="412394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8" name="Shape 16"/>
          <p:cNvSpPr/>
          <p:nvPr/>
        </p:nvSpPr>
        <p:spPr>
          <a:xfrm>
            <a:off x="9427464" y="476402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16184" y="531266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RECAP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192024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Speculative Prefill for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Multi-Turn Conversation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SpecPrefill's draft-model token preselection from single-shot long-context QA to growing, persistent multi-turn dialogue.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Llama-3.1-8B-Instruct    </a:t>
            </a:r>
            <a:pPr indent="0" marL="0">
              <a:buNone/>
            </a:pPr>
            <a:r>
              <a:rPr lang="en-US" sz="1200" b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Speculator: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Llama-3.2-1B-Instruct    </a:t>
            </a:r>
            <a:pPr indent="0" marL="0">
              <a:buNone/>
            </a:pPr>
            <a:r>
              <a:rPr lang="en-US" sz="1200" b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SCBench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SpecPrefill, and Why Multi-Turn Breaks the Assumption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Single-turn SpecPrefill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617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cost scales with context length — TTFT is the bottleneck on long contexts.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training-free draft model (1B) scores token importance from its own lookahead attention.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top-k% of tokens; prune the rest before the target model's prefill.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Drop-in: no fine-tuning of the target required.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82880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18928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multi-turn twist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423160"/>
            <a:ext cx="4617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grows every turn — the bottleneck recurs, it isn't paid once.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just re-run prefill pruning on a shrunk context each turn.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KV cache has to persist across turns for the conversation to stay coherent.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 does draft-model preselection generalize to this setting?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SPARSE-k*-g*: Persistent Cache, Sparse Decode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00784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07008" y="158191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Speculator (1B) — persistent engine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07008" y="185623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alongside the target every turn.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90188" y="2221992"/>
            <a:ext cx="9144" cy="173736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395728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2587752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587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07008" y="246888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tokens via lookahead attention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07008" y="274320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 avg-pool(13) → max over (layer, head) → mean over 8 lookahead steps.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90188" y="3108960"/>
            <a:ext cx="9144" cy="173736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3282696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3474720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07008" y="335584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top-k% by block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07008" y="363016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 g = 16 / 32 / 64 tokens per block.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90188" y="3995928"/>
            <a:ext cx="9144" cy="173736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4169664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" y="4361688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4361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07008" y="424281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(8B) — full KV cache, retained persistently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07008" y="451713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Resumable-session KV persistence — nothing is ever evicted.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790188" y="4882896"/>
            <a:ext cx="9144" cy="173736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" y="5056632"/>
            <a:ext cx="6492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" y="5248656"/>
            <a:ext cx="329184" cy="3291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5248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07008" y="51297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Decode-time block-table gather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207008" y="5404104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restricted to the selected blocks of the already-resident cache.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06640" y="1508760"/>
            <a:ext cx="4236415" cy="4261104"/>
          </a:xfrm>
          <a:prstGeom prst="roundRect">
            <a:avLst>
              <a:gd name="adj" fmla="val 1727"/>
            </a:avLst>
          </a:prstGeom>
          <a:solidFill>
            <a:srgbClr val="FFFFFF"/>
          </a:solidFill>
          <a:ln w="12700">
            <a:solidFill>
              <a:srgbClr val="FF6B4A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680960" y="1737360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compressed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80960" y="2286000"/>
            <a:ext cx="3687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Decode-time attention compute &amp; bandwidth — not the KV cache itself.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keep_mode = keep only: nothing is ever discarded, so DISCARD-style eviction doesn't apply here.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self-generated — future turns are built from the model's own actual output.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and Experiment Matrix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778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099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SCBench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756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turns per conversation, sharing one long context (confirmed empirically, not the HF card's “2–4”).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560320"/>
          <a:ext cx="5029200" cy="173736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137160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Config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scbench_kv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/ substring retrieval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in_match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scbench_qa_eng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Free-form QA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qa_f1_score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scbench_summary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summarization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rouge_l_f1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46520" y="1508760"/>
            <a:ext cx="5196535" cy="324612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720840" y="1709928"/>
            <a:ext cx="464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matrix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720840" y="2167128"/>
            <a:ext cx="4647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M000 — baseline, no pruning (100%)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SPARSE-k{20,40,60,80}-g{16,32,64} — 12 configs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ORACLE-k{80,60,40,20} — target-scored ceiling, pairs with g32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502920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" y="502920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hyperparameters:   </a:t>
            </a:r>
            <a:pPr indent="0" marL="0">
              <a:buNone/>
            </a:pPr>
            <a:r>
              <a:rPr lang="en-US" sz="13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   ·   look-ahead count 8   ·   pool_kernel_size 13   ·   enforce_eager on both engines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scbench_kv: A Clean, Monotonic Degradation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508760"/>
            <a:ext cx="33220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58200" y="1618488"/>
            <a:ext cx="3047695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81.6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458200" y="2221992"/>
            <a:ext cx="3047695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M000 baseline (no pruning)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321040" y="2834640"/>
            <a:ext cx="33220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58200" y="2944368"/>
            <a:ext cx="3047695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−42.9%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458200" y="3547872"/>
            <a:ext cx="3047695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— SPARSE-k20-g16 (46.6)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321040" y="4160520"/>
            <a:ext cx="33220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58200" y="4270248"/>
            <a:ext cx="3047695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−1.0%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458200" y="4873752"/>
            <a:ext cx="3047695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 — SPARSE-k80-g64 (80.8)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321040" y="5486400"/>
            <a:ext cx="3322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in both keep rate and granularity — sparsification is genuinely degrading retrieval, not sampling noise.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qa_eng and summary Stay Flat — kv Is Where It Lives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18488"/>
            <a:ext cx="324612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±6%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660904"/>
            <a:ext cx="324612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scbench_qa_eng — SPARSE grid stays within ±1.64 pts of M000's 27.26, no keep-rate/granularity trend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5087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618488"/>
            <a:ext cx="324612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±1%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80560" y="2660904"/>
            <a:ext cx="324612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scbench_summary — every config within ±0.5 pts of M000's 36.04, flat across the whole grid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1508760"/>
            <a:ext cx="3504895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1691640"/>
            <a:ext cx="3047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 as noise, not effect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66760" y="2103120"/>
            <a:ext cx="3047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config shows the effect scbench_kv shows — exact-match retrieval is specifically what block-granular sparsification hurts.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11094415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Per-turn M000 score on scbench_kv — turn 0 is always the worst turn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822960" y="4251960"/>
          <a:ext cx="694944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8046720" y="4297680"/>
            <a:ext cx="33220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does not compound across turns — both the mechanism and estimator gaps are flat-to-shrinking in turn index.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0 is where sparsification costs most: −32 pts, of which 23 is the scoring-estimator term.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Oracle Test: Whose Fault Is the 25-Point Gap?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ORACLE-k20 runs the identical pipeline with one change: the 8B target scores its own attention instead of the 1B speculator estimating it.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57400"/>
          <a:ext cx="67665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0292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scbench_kv conversations · 500 turns — same set behind every published number.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635240" y="1417320"/>
            <a:ext cx="4007815" cy="4572000"/>
          </a:xfrm>
          <a:prstGeom prst="roundRect">
            <a:avLst>
              <a:gd name="adj" fmla="val 1825"/>
            </a:avLst>
          </a:prstGeom>
          <a:solidFill>
            <a:srgbClr val="1E2761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09560" y="1645920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25.0-point gap splits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909560" y="2194560"/>
            <a:ext cx="2352239" cy="50292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0" name="Shape 7"/>
          <p:cNvSpPr/>
          <p:nvPr/>
        </p:nvSpPr>
        <p:spPr>
          <a:xfrm>
            <a:off x="10261799" y="2194560"/>
            <a:ext cx="1106936" cy="502920"/>
          </a:xfrm>
          <a:prstGeom prst="rect">
            <a:avLst/>
          </a:prstGeom>
          <a:solidFill>
            <a:srgbClr val="7C8FD6"/>
          </a:solidFill>
          <a:ln/>
        </p:spPr>
      </p:sp>
      <p:sp>
        <p:nvSpPr>
          <p:cNvPr id="11" name="Text 8"/>
          <p:cNvSpPr/>
          <p:nvPr/>
        </p:nvSpPr>
        <p:spPr>
          <a:xfrm>
            <a:off x="7909560" y="2880360"/>
            <a:ext cx="3459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 pts · 68%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 — the 1B's estimation error (ORACLE − SPARSE)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909560" y="3886200"/>
            <a:ext cx="3459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 pts · 32%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— block-granular sparse decode (M000 − ORACLE)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909560" y="4937760"/>
            <a:ext cx="3459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is the dominant term, ~2:1 — and scoring is only ~0.007% of a turn's FLOPs.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Chasing the Scoring Signal: Two Dead Ends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 ablation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max over (layer, head) with averaging — falsified, and backwards.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2468880"/>
          <a:ext cx="5074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530352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A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away from winner-take-all made things worse, monotonically — the retrieval signal lives in a few peaked heads.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1508760"/>
            <a:ext cx="5242255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75120" y="1691640"/>
            <a:ext cx="4693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probe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75120" y="2011680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scorer works — log-linear, no plateau — but is economically backwards.</a:t>
            </a:r>
            <a:endParaRPr lang="en-US" sz="11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629400" y="2468880"/>
          <a:ext cx="4785055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6675120" y="5212080"/>
            <a:ext cx="4693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+6.3 pts per doubling, no diminishing returns — but SPARSE already costs +21% FLOPs / +36% latency vs. M000, so a bigger draft model defeats the point.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Retrieval-Head Filtering Closes Half the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18488"/>
            <a:ext cx="2057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20/512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2057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heads matter across all 100 conversations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3218688"/>
            <a:ext cx="2057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3931920"/>
            <a:ext cx="2057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clairvoyant ceiling captured by a fixed top-2 mask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200400" y="1508760"/>
          <a:ext cx="844265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4709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6B4A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" y="4800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+8.6 pts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85800" y="5257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51% of the 17-pt estimator gap, for a mask that makes scoring cheaper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00400" y="5806440"/>
            <a:ext cx="8442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4-head mask on the 1B matches what a 3B scorer bought — same accuracy, a fraction of the compute.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Cost Picture: Bandwidth, Not FLOPs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72768"/>
            <a:ext cx="324612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+21%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505456"/>
            <a:ext cx="32461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 vs. M000, at every keep rate — analytic model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572768"/>
            <a:ext cx="324612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+36–51%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80560" y="2505456"/>
            <a:ext cx="32461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decode latency vs. M000 — slower, 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1463040"/>
            <a:ext cx="3504895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1572768"/>
            <a:ext cx="3230575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0.007%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75320" y="2505456"/>
            <a:ext cx="3230575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turn's FLOPs is the speculator's own scoring pass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11094415" cy="27432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 w="12700">
            <a:solidFill>
              <a:srgbClr val="DCE5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7033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for SPARSE is a bandwidth story, not a compute story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4206240"/>
            <a:ext cx="105457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FLOP model shows SPARSE running at ~120% of M000's FLOPs — it is not, and was never claimed to be, a compute-reduction method.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entire case rests on fewer KV bytes read per decode step — a memory-bandwidth reduction the FLOP model doesn't capture.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benefit is not showing up in wall-clock latency yet in this implementation — flagged as an open profiling problem, not glossed over.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Leaves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232C63"/>
          </a:solidFill>
          <a:ln w="12700">
            <a:solidFill>
              <a:srgbClr val="3B4694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Established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is real, clean, and retrieval-specific — scbench_kv only.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splits ~2:1 toward the draft model's imprecision, not the sparse mechanism.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compound across turns — the same per-turn selection problem, five times.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Retrieval-head filtering already recovers half the estimator gap, for free.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232C63"/>
          </a:solidFill>
          <a:ln w="12700">
            <a:solidFill>
              <a:srgbClr val="FF6B4A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7830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 pts estimator / 8.0 pts mechanism remain — roughly even, next point available either way.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Lookahead-query ablations, sink masking, head-set transfer to other configs.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side: block dilation, nucleus budgets, per-layer / mid-turn selection.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Latency/bandwidth story needs real profiling before the speed claim can be made.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Speculative Prefill for Multi-Turn Conversation</dc:title>
  <dc:subject>PptxGenJS Presentation</dc:subject>
  <dc:creator>Spec-Prefill Multi-Turn</dc:creator>
  <cp:lastModifiedBy>Spec-Prefill Multi-Turn</cp:lastModifiedBy>
  <cp:revision>1</cp:revision>
  <dcterms:created xsi:type="dcterms:W3CDTF">2026-08-24T04:45:47Z</dcterms:created>
  <dcterms:modified xsi:type="dcterms:W3CDTF">2026-08-24T04:45:47Z</dcterms:modified>
</cp:coreProperties>
</file>